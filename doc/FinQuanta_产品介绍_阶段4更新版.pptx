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E65100"/>
                </a:solidFill>
              </a:rPr>
              <a:t>AetherQuant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第四阶段架构升级版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</a:rPr>
              <a:t>统一快照 × 运行中心 × Web运营入口 × 编排审计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本轮升级重点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103120" cy="7315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统一快照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25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system_snapshot 统一汇总总览/AI仓/OpenClaw/Web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2103120" cy="73152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运行中心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06039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任务运行 + 系统事件 + 关键快照集中展示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79"/>
            <a:ext cx="2103120" cy="73152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编排审计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886199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run_task / task_run_log / system_event_log 接入高频入口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2103120" cy="7315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Web运营入口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166359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Web端可看运行中心、快照、OpenClaw执行与学习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统一快照服务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system_snapshot 现在统一输出以下信息：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manual_portfolio / manual_portfolio_raw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ai_portfolios（四仓汇总）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ai_states（四仓明细状态）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risk（VaR/HHI/回撤）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market_state（强趋势/轮动/风险收缩/中性）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task_runs / system_events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• totals（总资产/总现金/总持仓）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运行中心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9144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系统快照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291840" cy="9144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最近任务运行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291840" cy="9144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最近系统事件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全仓总资产</a:t>
            </a:r>
            <a:br/>
            <a:r>
              <a:rPr sz="1800" b="0">
                <a:solidFill>
                  <a:srgbClr val="8B949E"/>
                </a:solidFill>
              </a:rPr>
              <a:t>总现金</a:t>
            </a:r>
            <a:br/>
            <a:r>
              <a:rPr sz="1800" b="0">
                <a:solidFill>
                  <a:srgbClr val="8B949E"/>
                </a:solidFill>
              </a:rPr>
              <a:t>总持仓</a:t>
            </a:r>
            <a:br/>
            <a:r>
              <a:rPr sz="1800" b="0">
                <a:solidFill>
                  <a:srgbClr val="8B949E"/>
                </a:solidFill>
              </a:rPr>
              <a:t>市场状态</a:t>
            </a:r>
            <a:br/>
            <a:r>
              <a:rPr sz="1800" b="0">
                <a:solidFill>
                  <a:srgbClr val="8B949E"/>
                </a:solidFill>
              </a:rPr>
              <a:t>VaR95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6888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任务名</a:t>
            </a:r>
            <a:br/>
            <a:r>
              <a:rPr sz="1800" b="0">
                <a:solidFill>
                  <a:srgbClr val="8B949E"/>
                </a:solidFill>
              </a:rPr>
              <a:t>来源</a:t>
            </a:r>
            <a:br/>
            <a:r>
              <a:rPr sz="1800" b="0">
                <a:solidFill>
                  <a:srgbClr val="8B949E"/>
                </a:solidFill>
              </a:rPr>
              <a:t>状态</a:t>
            </a:r>
            <a:br/>
            <a:r>
              <a:rPr sz="1800" b="0">
                <a:solidFill>
                  <a:srgbClr val="8B949E"/>
                </a:solidFill>
              </a:rPr>
              <a:t>耗时</a:t>
            </a:r>
            <a:br/>
            <a:r>
              <a:rPr sz="1800" b="0">
                <a:solidFill>
                  <a:srgbClr val="8B949E"/>
                </a:solidFill>
              </a:rPr>
              <a:t>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6888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来源</a:t>
            </a:r>
            <a:br/>
            <a:r>
              <a:rPr sz="1800" b="0">
                <a:solidFill>
                  <a:srgbClr val="8B949E"/>
                </a:solidFill>
              </a:rPr>
              <a:t>分类</a:t>
            </a:r>
            <a:br/>
            <a:r>
              <a:rPr sz="1800" b="0">
                <a:solidFill>
                  <a:srgbClr val="8B949E"/>
                </a:solidFill>
              </a:rPr>
              <a:t>级别</a:t>
            </a:r>
            <a:br/>
            <a:r>
              <a:rPr sz="1800" b="0">
                <a:solidFill>
                  <a:srgbClr val="8B949E"/>
                </a:solidFill>
              </a:rPr>
              <a:t>标题</a:t>
            </a:r>
            <a:br/>
            <a:r>
              <a:rPr sz="1800" b="0">
                <a:solidFill>
                  <a:srgbClr val="8B949E"/>
                </a:solidFill>
              </a:rPr>
              <a:t>详情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编排与审计接入范围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</a:rPr>
              <a:t>已接入高频业务入口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扫描选股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手动仓买入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手动仓卖出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7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OpenClaw全流程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OpenClaw学习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6BB6A"/>
                </a:solidFill>
              </a:rPr>
              <a:t>形成三类审计记录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task_run_log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system_event_log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• operation_log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Web 版升级为运营入口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291840" cy="13716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总览页读取统一快照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291840" cy="13716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OpenClaw 页面拆分为</a:t>
            </a:r>
            <a:br/>
            <a:r>
              <a:rPr sz="1600" b="1">
                <a:solidFill>
                  <a:srgbClr val="FFFFFF"/>
                </a:solidFill>
              </a:rPr>
              <a:t>数据源/快照</a:t>
            </a:r>
            <a:br/>
            <a:r>
              <a:rPr sz="1600" b="1">
                <a:solidFill>
                  <a:srgbClr val="FFFFFF"/>
                </a:solidFill>
              </a:rPr>
              <a:t>全流程/学习</a:t>
            </a:r>
            <a:br/>
            <a:r>
              <a:rPr sz="1600" b="1">
                <a:solidFill>
                  <a:srgbClr val="FFFFFF"/>
                </a:solidFill>
              </a:rPr>
              <a:t>运行中心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59" y="1280160"/>
            <a:ext cx="3291840" cy="13716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可查看最近任务运行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3291840" cy="13716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可查看最近系统事件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291840" cy="13716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可查看市场状态机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65100"/>
                </a:solidFill>
              </a:rPr>
              <a:t>下一步建议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1. 让 Dashboard / AI仓 / OpenClaw 完全只读快照，彻底消除重复聚合逻辑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2. 把更多入口（量子优化、板块刷新、手动校准）接入 run_task()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3. 给运行中心增加筛选、重跑、失败告警聚合和统计图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4. 把 Web 版补成真正可远程操作的业务入口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5. 同步更新系统文档、PPT 和专利交底书中的架构图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