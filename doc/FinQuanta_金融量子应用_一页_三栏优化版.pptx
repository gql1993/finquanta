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9875520" y="182880"/>
            <a:ext cx="1920240" cy="1828800"/>
          </a:xfrm>
          <a:prstGeom prst="rect">
            <a:avLst/>
          </a:prstGeom>
          <a:solidFill>
            <a:srgbClr val="13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0"/>
            <a:ext cx="914400" cy="6858000"/>
          </a:xfrm>
          <a:prstGeom prst="rect">
            <a:avLst/>
          </a:prstGeom>
          <a:solidFill>
            <a:srgbClr val="0B3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0"/>
            <a:ext cx="914400" cy="6858000"/>
          </a:xfrm>
          <a:prstGeom prst="rect">
            <a:avLst/>
          </a:prstGeom>
          <a:solidFill>
            <a:srgbClr val="0B3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5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1440"/>
            <a:ext cx="11521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7D7FF"/>
                </a:solidFill>
                <a:latin typeface="Microsoft YaHei"/>
              </a:defRPr>
            </a:pPr>
            <a:r>
              <a:t>应用价值：赋能产业创新发展｜金融场景补充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502920"/>
            <a:ext cx="315468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539496"/>
            <a:ext cx="306324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594360"/>
            <a:ext cx="30083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金融量化组合优化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02920"/>
            <a:ext cx="475488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539496"/>
            <a:ext cx="466344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594360"/>
            <a:ext cx="4608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量电混合量化投资平台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502920"/>
            <a:ext cx="2971800" cy="4983480"/>
          </a:xfrm>
          <a:prstGeom prst="roundRect">
            <a:avLst/>
          </a:prstGeom>
          <a:solidFill>
            <a:srgbClr val="050816"/>
          </a:solidFill>
          <a:ln w="2032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0" y="539496"/>
            <a:ext cx="2880360" cy="384048"/>
          </a:xfrm>
          <a:prstGeom prst="roundRect">
            <a:avLst/>
          </a:prstGeom>
          <a:solidFill>
            <a:srgbClr val="0B122A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594360"/>
            <a:ext cx="282549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8F1FF"/>
                </a:solidFill>
                <a:latin typeface="Microsoft YaHei"/>
              </a:defRPr>
            </a:pPr>
            <a:r>
              <a:t>关键结果与应用价值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106984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8BCD6"/>
                </a:solidFill>
                <a:latin typeface="Microsoft YaHei"/>
              </a:defRPr>
            </a:pPr>
            <a:r>
              <a:t>面向多标的离散选股与资产配置，在收益、风险、行业暴露与持仓数量等约束下进行联合优化。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" y="1673352"/>
            <a:ext cx="2825496" cy="1417320"/>
          </a:xfrm>
          <a:prstGeom prst="roundRect">
            <a:avLst/>
          </a:prstGeom>
          <a:solidFill>
            <a:srgbClr val="147EC1"/>
          </a:solidFill>
          <a:ln>
            <a:solidFill>
              <a:srgbClr val="59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6479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核心挑战：组合空间爆炸、全局最优难求、投研闭环迟滞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2194560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候选池稍有扩大，可行解规模即指数膨胀。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2514600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500 选 30 的理论组合数已超过 10^48。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2834640"/>
            <a:ext cx="2642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• 传统启发式在高维协方差下易陷入局部最优。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3383280"/>
            <a:ext cx="804672" cy="685800"/>
          </a:xfrm>
          <a:prstGeom prst="roundRect">
            <a:avLst/>
          </a:prstGeom>
          <a:solidFill>
            <a:srgbClr val="EBF1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10712"/>
            <a:ext cx="76809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50选10</a:t>
            </a:r>
            <a:br/>
            <a:r>
              <a:t>103亿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62456" y="3383280"/>
            <a:ext cx="804672" cy="685800"/>
          </a:xfrm>
          <a:prstGeom prst="roundRect">
            <a:avLst/>
          </a:prstGeom>
          <a:solidFill>
            <a:srgbClr val="D9E4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80744" y="3410712"/>
            <a:ext cx="76809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100选15</a:t>
            </a:r>
            <a:br/>
            <a:r>
              <a:t>10^17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80" y="3383280"/>
            <a:ext cx="804672" cy="685800"/>
          </a:xfrm>
          <a:prstGeom prst="roundRect">
            <a:avLst/>
          </a:prstGeom>
          <a:solidFill>
            <a:srgbClr val="C8D7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58568" y="3410712"/>
            <a:ext cx="768096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500选30</a:t>
            </a:r>
            <a:br/>
            <a:r>
              <a:t>10^48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251959"/>
            <a:ext cx="2788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70E8FF"/>
                </a:solidFill>
                <a:latin typeface="Microsoft YaHei"/>
              </a:defRPr>
            </a:pPr>
            <a:r>
              <a:t>量子赋能 + QUBO 建模 + 量电混合求解：</a:t>
            </a:r>
            <a:br/>
            <a:r>
              <a:t>将组合优化从“经验近似”推进到“离散优化可编排、可评估、可迭代”的新范式。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1033272"/>
            <a:ext cx="1965960" cy="411480"/>
          </a:xfrm>
          <a:prstGeom prst="roundRect">
            <a:avLst/>
          </a:prstGeom>
          <a:solidFill>
            <a:srgbClr val="4F79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1060704"/>
            <a:ext cx="1929384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收益-风险-约束联合建模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033272"/>
            <a:ext cx="1965960" cy="411480"/>
          </a:xfrm>
          <a:prstGeom prst="roundRect">
            <a:avLst/>
          </a:prstGeom>
          <a:solidFill>
            <a:srgbClr val="C9D6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61888" y="1060704"/>
            <a:ext cx="1929384" cy="356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21C30"/>
                </a:solidFill>
                <a:latin typeface="Microsoft YaHei"/>
              </a:defRPr>
            </a:pPr>
            <a:r>
              <a:t>QUBO 映射与惩罚项自适应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58768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77056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因子/行情输入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0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协方差估计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16752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持仓约束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95744" y="1655064"/>
            <a:ext cx="960120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4032" y="1682496"/>
            <a:ext cx="9235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工作流编排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86200" y="2331720"/>
            <a:ext cx="1874519" cy="347472"/>
          </a:xfrm>
          <a:prstGeom prst="roundRect">
            <a:avLst/>
          </a:prstGeom>
          <a:solidFill>
            <a:srgbClr val="6BA8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4488" y="2359152"/>
            <a:ext cx="18379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F1FF"/>
                </a:solidFill>
                <a:latin typeface="Microsoft YaHei"/>
              </a:defRPr>
            </a:pPr>
            <a:r>
              <a:t>基于 QUBO 的组合优化目标构建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2331720"/>
            <a:ext cx="1874519" cy="347472"/>
          </a:xfrm>
          <a:prstGeom prst="roundRect">
            <a:avLst/>
          </a:prstGeom>
          <a:solidFill>
            <a:srgbClr val="B9CC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2359152"/>
            <a:ext cx="183794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21C30"/>
                </a:solidFill>
                <a:latin typeface="Microsoft YaHei"/>
              </a:defRPr>
            </a:pPr>
            <a:r>
              <a:t>基于量电混合的并行求解与评估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3632" y="2898648"/>
            <a:ext cx="932688" cy="384048"/>
          </a:xfrm>
          <a:prstGeom prst="roundRect">
            <a:avLst/>
          </a:prstGeom>
          <a:solidFill>
            <a:srgbClr val="F0F4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经典基线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2624" y="2898648"/>
            <a:ext cx="932688" cy="384048"/>
          </a:xfrm>
          <a:prstGeom prst="roundRect">
            <a:avLst/>
          </a:prstGeom>
          <a:solidFill>
            <a:srgbClr val="D9E5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10912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模拟退火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71615" y="2898648"/>
            <a:ext cx="932688" cy="384048"/>
          </a:xfrm>
          <a:prstGeom prst="roundRect">
            <a:avLst/>
          </a:prstGeom>
          <a:solidFill>
            <a:srgbClr val="4F79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9903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E8F1FF"/>
                </a:solidFill>
                <a:latin typeface="Microsoft YaHei"/>
              </a:defRPr>
            </a:pPr>
            <a:r>
              <a:t>QAOA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150608" y="2898648"/>
            <a:ext cx="932688" cy="384048"/>
          </a:xfrm>
          <a:prstGeom prst="roundRect">
            <a:avLst/>
          </a:prstGeom>
          <a:solidFill>
            <a:srgbClr val="F0F4FF"/>
          </a:solidFill>
          <a:ln w="1016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68896" y="2926080"/>
            <a:ext cx="896112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121C30"/>
                </a:solidFill>
                <a:latin typeface="Microsoft YaHei"/>
              </a:defRPr>
            </a:pPr>
            <a:r>
              <a:t>统一评估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410712"/>
            <a:ext cx="4352544" cy="822960"/>
          </a:xfrm>
          <a:prstGeom prst="roundRect">
            <a:avLst/>
          </a:prstGeom>
          <a:solidFill>
            <a:srgbClr val="090F24"/>
          </a:solidFill>
          <a:ln w="12700">
            <a:solidFill>
              <a:srgbClr val="2D6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86200" y="3502152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数据接入 → 统计估计 → QUBO 构造 → QAOA / 退火求解 → 统一评估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8620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8BCD6"/>
                </a:solidFill>
                <a:latin typeface="Microsoft YaHei"/>
              </a:defRPr>
            </a:pPr>
            <a:r>
              <a:t>经典侧承载数据与回测，量子侧聚焦离散组合优化，形成可复用投研闭环。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1069848"/>
            <a:ext cx="2788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8BCD6"/>
                </a:solidFill>
                <a:latin typeface="Microsoft YaHei"/>
              </a:defRPr>
            </a:pPr>
            <a:r>
              <a:t>固定种子仿真结果（6标的 / K=3 / 120日）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417320"/>
            <a:ext cx="960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2.6%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1874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F1FF"/>
                </a:solidFill>
                <a:latin typeface="Microsoft YaHei"/>
              </a:defRPr>
            </a:pPr>
            <a:r>
              <a:t>相对贪心夏普提升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38360" y="1417320"/>
            <a:ext cx="960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10^48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1874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F1FF"/>
                </a:solidFill>
                <a:latin typeface="Microsoft YaHei"/>
              </a:defRPr>
            </a:pPr>
            <a:r>
              <a:t>500选30组合空间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44200" y="1417320"/>
            <a:ext cx="960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C8FF"/>
                </a:solidFill>
                <a:latin typeface="Microsoft YaHei"/>
              </a:defRPr>
            </a:pPr>
            <a:r>
              <a:t>2~110ms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44200" y="1874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E8F1FF"/>
                </a:solidFill>
                <a:latin typeface="Microsoft YaHei"/>
              </a:defRPr>
            </a:pPr>
            <a:r>
              <a:t>多方法同口径求解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5400" y="2167128"/>
            <a:ext cx="26060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E8F1FF"/>
                </a:solidFill>
                <a:latin typeface="Microsoft YaHei"/>
              </a:defRPr>
            </a:pPr>
            <a:r>
              <a:t>QAOA 夏普 1.20，较贪心 1.17 略优；在风险调整后收益维度展现更优解质量。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8BCD6"/>
                </a:solidFill>
                <a:latin typeface="Microsoft YaHei"/>
              </a:defRPr>
            </a:pPr>
            <a:r>
              <a:t>通过量电混合求解与统一评估链路，支撑策略快速迭代与组合求解结果可解释输出。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61120" y="3081528"/>
            <a:ext cx="2487168" cy="1417320"/>
          </a:xfrm>
          <a:prstGeom prst="roundRect">
            <a:avLst/>
          </a:prstGeom>
          <a:solidFill>
            <a:srgbClr val="F6F8FB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9125712" y="4334256"/>
            <a:ext cx="2185416" cy="0"/>
          </a:xfrm>
          <a:prstGeom prst="line">
            <a:avLst/>
          </a:prstGeom>
          <a:ln w="1270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125712" y="3246120"/>
            <a:ext cx="0" cy="1088136"/>
          </a:xfrm>
          <a:prstGeom prst="line">
            <a:avLst/>
          </a:prstGeom>
          <a:ln w="12700">
            <a:solidFill>
              <a:srgbClr val="B4B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125712" y="3767328"/>
            <a:ext cx="2185416" cy="0"/>
          </a:xfrm>
          <a:prstGeom prst="line">
            <a:avLst/>
          </a:prstGeom>
          <a:ln w="10160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125712" y="3584448"/>
            <a:ext cx="2185416" cy="0"/>
          </a:xfrm>
          <a:prstGeom prst="line">
            <a:avLst/>
          </a:prstGeom>
          <a:ln w="10160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125712" y="3401568"/>
            <a:ext cx="2185416" cy="0"/>
          </a:xfrm>
          <a:prstGeom prst="line">
            <a:avLst/>
          </a:prstGeom>
          <a:ln w="10160">
            <a:solidFill>
              <a:srgbClr val="E3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070848" y="3108960"/>
            <a:ext cx="22677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464F64"/>
                </a:solidFill>
                <a:latin typeface="Microsoft YaHei"/>
              </a:defRPr>
            </a:pPr>
            <a:r>
              <a:t>Search Complexity Comparison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97696" y="3401568"/>
            <a:ext cx="1280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C7588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97696" y="4242816"/>
            <a:ext cx="12801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6C7588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45368" y="4352544"/>
            <a:ext cx="3291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6C7588"/>
                </a:solidFill>
                <a:latin typeface="Microsoft YaHei"/>
              </a:defRPr>
            </a:pPr>
            <a:r>
              <a:t>规模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9171432" y="4251960"/>
            <a:ext cx="502920" cy="54864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674352" y="4160520"/>
            <a:ext cx="457200" cy="91440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131552" y="4023360"/>
            <a:ext cx="457200" cy="137160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588752" y="3785616"/>
            <a:ext cx="365760" cy="237744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54512" y="3328416"/>
            <a:ext cx="228600" cy="457200"/>
          </a:xfrm>
          <a:prstGeom prst="line">
            <a:avLst/>
          </a:prstGeom>
          <a:ln w="25400">
            <a:solidFill>
              <a:srgbClr val="FFA5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171432" y="4279392"/>
            <a:ext cx="457200" cy="18288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628632" y="4261104"/>
            <a:ext cx="457200" cy="18288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085832" y="4197096"/>
            <a:ext cx="457200" cy="64008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543032" y="3895344"/>
            <a:ext cx="411480" cy="301752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954512" y="3438144"/>
            <a:ext cx="228600" cy="457200"/>
          </a:xfrm>
          <a:prstGeom prst="line">
            <a:avLst/>
          </a:prstGeom>
          <a:ln w="25400">
            <a:solidFill>
              <a:srgbClr val="2D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400032" y="3282696"/>
            <a:ext cx="7315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FFA53A"/>
                </a:solidFill>
                <a:latin typeface="Microsoft YaHei"/>
              </a:defRPr>
            </a:pPr>
            <a:r>
              <a:t>量电混合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95560" y="3282696"/>
            <a:ext cx="8229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D73FF"/>
                </a:solidFill>
                <a:latin typeface="Microsoft YaHei"/>
              </a:defRPr>
            </a:pPr>
            <a:r>
              <a:t>经典穷举/搜索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15400" y="4663440"/>
            <a:ext cx="2606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E8F1FF"/>
                </a:solidFill>
                <a:latin typeface="Microsoft YaHei"/>
              </a:defRPr>
            </a:pPr>
            <a:r>
              <a:t>量子赋能 + 风险调整 + 组合优化：让量化投资从规则驱动走向更高维、更可编排的智能决策新范式。</a:t>
            </a:r>
          </a:p>
        </p:txBody>
      </p:sp>
      <p:sp>
        <p:nvSpPr>
          <p:cNvPr id="88" name="Chevron 87"/>
          <p:cNvSpPr/>
          <p:nvPr/>
        </p:nvSpPr>
        <p:spPr>
          <a:xfrm>
            <a:off x="411480" y="5596128"/>
            <a:ext cx="2926080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5641848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金融量化瓶颈：现象问题驱动研究</a:t>
            </a:r>
          </a:p>
        </p:txBody>
      </p:sp>
      <p:sp>
        <p:nvSpPr>
          <p:cNvPr id="90" name="Chevron 89"/>
          <p:cNvSpPr/>
          <p:nvPr/>
        </p:nvSpPr>
        <p:spPr>
          <a:xfrm>
            <a:off x="4069080" y="5596128"/>
            <a:ext cx="3977639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60520" y="5641848"/>
            <a:ext cx="37947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量电混合量化投资平台 - 未来发展趋势</a:t>
            </a:r>
          </a:p>
        </p:txBody>
      </p:sp>
      <p:sp>
        <p:nvSpPr>
          <p:cNvPr id="92" name="Chevron 91"/>
          <p:cNvSpPr/>
          <p:nvPr/>
        </p:nvSpPr>
        <p:spPr>
          <a:xfrm>
            <a:off x="8869680" y="5596128"/>
            <a:ext cx="2651760" cy="402336"/>
          </a:xfrm>
          <a:prstGeom prst="chevron">
            <a:avLst/>
          </a:prstGeom>
          <a:solidFill>
            <a:srgbClr val="0BB2FF"/>
          </a:solidFill>
          <a:ln>
            <a:solidFill>
              <a:srgbClr val="0B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61120" y="5641848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E8F1FF"/>
                </a:solidFill>
                <a:latin typeface="Microsoft YaHei"/>
              </a:defRPr>
            </a:pPr>
            <a:r>
              <a:t>量子赋能量化投资新范式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040" y="6108192"/>
            <a:ext cx="11567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8C9BAF"/>
                </a:solidFill>
                <a:latin typeface="Microsoft YaHei"/>
              </a:defRPr>
            </a:pPr>
            <a:r>
              <a:t>说明：本页数据来自 FinQuanta 固定随机种子统计仿真，用于展示算法与工程链路，不构成投资收益承诺。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