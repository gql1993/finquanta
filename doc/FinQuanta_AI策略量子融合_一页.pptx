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9875520" y="182880"/>
            <a:ext cx="1920240" cy="1828800"/>
          </a:xfrm>
          <a:prstGeom prst="rect">
            <a:avLst/>
          </a:prstGeom>
          <a:solidFill>
            <a:srgbClr val="13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0"/>
            <a:ext cx="914400" cy="6858000"/>
          </a:xfrm>
          <a:prstGeom prst="rect">
            <a:avLst/>
          </a:prstGeom>
          <a:solidFill>
            <a:srgbClr val="0B3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0"/>
            <a:ext cx="914400" cy="6858000"/>
          </a:xfrm>
          <a:prstGeom prst="rect">
            <a:avLst/>
          </a:prstGeom>
          <a:solidFill>
            <a:srgbClr val="0B3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521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B7D7FF"/>
                </a:solidFill>
                <a:latin typeface="Microsoft YaHei"/>
              </a:defRPr>
            </a:pPr>
            <a:r>
              <a:t>FinQuanta：AI 智能决策 × 经典选股策略 × 量子组合优化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502920"/>
            <a:ext cx="315468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539496"/>
            <a:ext cx="306324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594360"/>
            <a:ext cx="30083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智能金融与量化交易挑战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6984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8BCD6"/>
                </a:solidFill>
                <a:latin typeface="Microsoft YaHei"/>
              </a:defRPr>
            </a:pPr>
            <a:r>
              <a:t>现代金融市场具有高噪音、非线性和多重博弈特征，使得传统纯规则或纯人工决策面临巨大的性能与广度瓶颈。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1691640"/>
            <a:ext cx="2825496" cy="2286000"/>
          </a:xfrm>
          <a:prstGeom prst="roundRect">
            <a:avLst/>
          </a:prstGeom>
          <a:solidFill>
            <a:srgbClr val="147EC1"/>
          </a:solidFill>
          <a:ln>
            <a:solidFill>
              <a:srgbClr val="5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核心痛点：信息过载、策略固化、最优解难求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信息与决策不对等：全市场标的与新闻海量，传统系统缺乏自主学习与意图识别能力。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策略适应性弱：固定因子的经典选股策略在剧烈震荡市中易失效，需要AI动态择时。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组合规模化瓶颈：当候选池扩张时(如500选30)，超10^48规模的解空间使经典算力陷入局部最优。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60520"/>
            <a:ext cx="2788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0E8FF"/>
                </a:solidFill>
                <a:latin typeface="Microsoft YaHei"/>
              </a:defRPr>
            </a:pPr>
            <a:r>
              <a:t>全新范式：</a:t>
            </a:r>
            <a:br/>
            <a:r>
              <a:t>利用 AI 大模型实现自主意图识别与宏观择时；</a:t>
            </a:r>
            <a:br/>
            <a:r>
              <a:t>通过多维经典策略生成高质量Alpha候选标的；</a:t>
            </a:r>
            <a:br/>
            <a:r>
              <a:t>引入量子计算 QAOA 打破维度诅咒完成全局寻优。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02920"/>
            <a:ext cx="475488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03320" y="539496"/>
            <a:ext cx="466344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594360"/>
            <a:ext cx="4608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AI × 策略 × 量子 一体化架构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097280"/>
            <a:ext cx="4389120" cy="1051560"/>
          </a:xfrm>
          <a:prstGeom prst="roundRect">
            <a:avLst/>
          </a:prstGeom>
          <a:solidFill>
            <a:srgbClr val="09183D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768" y="1124712"/>
            <a:ext cx="4352544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21C30"/>
                </a:solidFill>
                <a:latin typeface="Microsoft Ya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840480" y="114300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C8FF"/>
                </a:solidFill>
                <a:latin typeface="Microsoft YaHei"/>
              </a:defRPr>
            </a:pPr>
            <a:r>
              <a:t>【顶层】AI 智能决策与意图网络 (OpenClaw Agent)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40" y="1508760"/>
            <a:ext cx="1188720" cy="457200"/>
          </a:xfrm>
          <a:prstGeom prst="roundRect">
            <a:avLst/>
          </a:prstGeom>
          <a:solidFill>
            <a:srgbClr val="112A66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5928" y="1536192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自然语言意图交互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1508760"/>
            <a:ext cx="1188720" cy="457200"/>
          </a:xfrm>
          <a:prstGeom prst="roundRect">
            <a:avLst/>
          </a:prstGeom>
          <a:solidFill>
            <a:srgbClr val="112A66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58968" y="1536192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宏观情绪与择时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1508760"/>
            <a:ext cx="1188720" cy="457200"/>
          </a:xfrm>
          <a:prstGeom prst="roundRect">
            <a:avLst/>
          </a:prstGeom>
          <a:solidFill>
            <a:srgbClr val="112A66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2008" y="1536192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跨Agent协作网络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.0" y="2148840"/>
            <a:ext cx="0.0" cy="22860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840480" y="2377439"/>
            <a:ext cx="4389120" cy="1051560"/>
          </a:xfrm>
          <a:prstGeom prst="roundRect">
            <a:avLst/>
          </a:prstGeom>
          <a:solidFill>
            <a:srgbClr val="0E264D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8768" y="2404871"/>
            <a:ext cx="4352544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21C30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3840480" y="2423159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CC66"/>
                </a:solidFill>
                <a:latin typeface="Microsoft YaHei"/>
              </a:defRPr>
            </a:pPr>
            <a:r>
              <a:t>【中层】多维经典选股策略矩阵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40" y="2788919"/>
            <a:ext cx="1188720" cy="457200"/>
          </a:xfrm>
          <a:prstGeom prst="roundRect">
            <a:avLst/>
          </a:prstGeom>
          <a:solidFill>
            <a:srgbClr val="263F73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95928" y="2816351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多因子Alpha挖掘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2788919"/>
            <a:ext cx="1188720" cy="457200"/>
          </a:xfrm>
          <a:prstGeom prst="roundRect">
            <a:avLst/>
          </a:prstGeom>
          <a:solidFill>
            <a:srgbClr val="263F73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58968" y="2816351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形态与事件驱动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2788919"/>
            <a:ext cx="1188720" cy="457200"/>
          </a:xfrm>
          <a:prstGeom prst="roundRect">
            <a:avLst/>
          </a:prstGeom>
          <a:solidFill>
            <a:srgbClr val="263F73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22008" y="2816351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协方差与特征提取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0.0" y="3428999"/>
            <a:ext cx="0.0" cy="228600"/>
          </a:xfrm>
          <a:prstGeom prst="line">
            <a:avLst/>
          </a:prstGeom>
          <a:ln w="25400">
            <a:solidFill>
              <a:srgbClr val="FFCC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840480" y="3657600"/>
            <a:ext cx="4389120" cy="1051560"/>
          </a:xfrm>
          <a:prstGeom prst="roundRect">
            <a:avLst/>
          </a:prstGeom>
          <a:solidFill>
            <a:srgbClr val="1B1A4A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685032"/>
            <a:ext cx="4352544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21C30"/>
                </a:solidFill>
                <a:latin typeface="Microsoft YaHe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3840480" y="370332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99FF"/>
                </a:solidFill>
                <a:latin typeface="Microsoft YaHei"/>
              </a:defRPr>
            </a:pPr>
            <a:r>
              <a:t>【底层】量子计算组合优化核心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77640" y="4069080"/>
            <a:ext cx="1188720" cy="457200"/>
          </a:xfrm>
          <a:prstGeom prst="roundRect">
            <a:avLst/>
          </a:prstGeom>
          <a:solidFill>
            <a:srgbClr val="3B2A6A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95928" y="4096512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QUBO 二次建模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40680" y="4069080"/>
            <a:ext cx="1188720" cy="457200"/>
          </a:xfrm>
          <a:prstGeom prst="roundRect">
            <a:avLst/>
          </a:prstGeom>
          <a:solidFill>
            <a:srgbClr val="6B3AAA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58968" y="4096512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F1FF"/>
                </a:solidFill>
                <a:latin typeface="Microsoft YaHei"/>
              </a:defRPr>
            </a:pPr>
            <a:r>
              <a:t>QAOA 并行寻优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4069080"/>
            <a:ext cx="1188720" cy="457200"/>
          </a:xfrm>
          <a:prstGeom prst="roundRect">
            <a:avLst/>
          </a:prstGeom>
          <a:solidFill>
            <a:srgbClr val="3B2A6A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22008" y="4096512"/>
            <a:ext cx="115214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持仓/风险硬约束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58768" y="4846320"/>
            <a:ext cx="4352544" cy="502920"/>
          </a:xfrm>
          <a:prstGeom prst="roundRect">
            <a:avLst/>
          </a:prstGeom>
          <a:solidFill>
            <a:srgbClr val="090F24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49377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全自动化投研闭环：大模型指引方向 → 经典策略圈定标的池 → 量子优化生成最优配置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32520" y="502920"/>
            <a:ext cx="297180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778240" y="539496"/>
            <a:ext cx="288036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05672" y="594360"/>
            <a:ext cx="2825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多维融合关键优势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123444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24 /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13258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F1FF"/>
                </a:solidFill>
                <a:latin typeface="Microsoft YaHei"/>
              </a:defRPr>
            </a:pPr>
            <a:r>
              <a:t>AI全天候动态自适应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15544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8BCD6"/>
                </a:solidFill>
                <a:latin typeface="Microsoft YaHei"/>
              </a:defRPr>
            </a:pPr>
            <a:r>
              <a:t>Agent根据实时盘面和新闻自动干预仓位。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915400" y="2240280"/>
            <a:ext cx="2606040" cy="0"/>
          </a:xfrm>
          <a:prstGeom prst="line">
            <a:avLst/>
          </a:prstGeom>
          <a:ln w="12700">
            <a:solidFill>
              <a:srgbClr val="1F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823960" y="242316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多因子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5146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F1FF"/>
                </a:solidFill>
                <a:latin typeface="Microsoft YaHei"/>
              </a:defRPr>
            </a:pPr>
            <a:r>
              <a:t>经典与前沿特征同源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27432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8BCD6"/>
                </a:solidFill>
                <a:latin typeface="Microsoft YaHei"/>
              </a:defRPr>
            </a:pPr>
            <a:r>
              <a:t>支持微观均值回归、动量破局等数十种算子。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15400" y="3429000"/>
            <a:ext cx="2606040" cy="0"/>
          </a:xfrm>
          <a:prstGeom prst="line">
            <a:avLst/>
          </a:prstGeom>
          <a:ln w="12700">
            <a:solidFill>
              <a:srgbClr val="1F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823960" y="361188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1.20 夏普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37033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F1FF"/>
                </a:solidFill>
                <a:latin typeface="Microsoft YaHei"/>
              </a:defRPr>
            </a:pPr>
            <a:r>
              <a:t>QAOA高维解质量提升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12680" y="393192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8BCD6"/>
                </a:solidFill>
                <a:latin typeface="Microsoft YaHei"/>
              </a:defRPr>
            </a:pPr>
            <a:r>
              <a:t>仿真中量子求解相对经典贪心提升夏普比2.6%。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4663440"/>
            <a:ext cx="2606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CC66"/>
                </a:solidFill>
                <a:latin typeface="Microsoft YaHei"/>
              </a:defRPr>
            </a:pPr>
            <a:r>
              <a:t>通过 “AI认知 + 策略生成 + 量子优化” 的三维驱动，真正让金融量化从“人工设定规则”迈向“机器自主进化”。</a:t>
            </a:r>
          </a:p>
        </p:txBody>
      </p:sp>
      <p:sp>
        <p:nvSpPr>
          <p:cNvPr id="66" name="Chevron 65"/>
          <p:cNvSpPr/>
          <p:nvPr/>
        </p:nvSpPr>
        <p:spPr>
          <a:xfrm>
            <a:off x="411480" y="5596128"/>
            <a:ext cx="2926080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5641848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金融痛点：复杂市场与算力瓶颈</a:t>
            </a:r>
          </a:p>
        </p:txBody>
      </p:sp>
      <p:sp>
        <p:nvSpPr>
          <p:cNvPr id="68" name="Chevron 67"/>
          <p:cNvSpPr/>
          <p:nvPr/>
        </p:nvSpPr>
        <p:spPr>
          <a:xfrm>
            <a:off x="4069080" y="5596128"/>
            <a:ext cx="3977639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0520" y="5641848"/>
            <a:ext cx="3794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FinQuanta 平台：三维一体全栈架构</a:t>
            </a:r>
          </a:p>
        </p:txBody>
      </p:sp>
      <p:sp>
        <p:nvSpPr>
          <p:cNvPr id="70" name="Chevron 69"/>
          <p:cNvSpPr/>
          <p:nvPr/>
        </p:nvSpPr>
        <p:spPr>
          <a:xfrm>
            <a:off x="8869680" y="5596128"/>
            <a:ext cx="2651760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20" y="564184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量化投资的智能进化新范式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108192"/>
            <a:ext cx="11567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C9BAF"/>
                </a:solidFill>
                <a:latin typeface="Microsoft YaHei"/>
              </a:defRPr>
            </a:pPr>
            <a:r>
              <a:t>说明：架构与数据展示基于 FinQuanta 平台设计与端到端测试，具体投资表现视实际运行策略为准。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