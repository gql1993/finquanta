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金融资产配置与量化组合优化</a:t>
            </a:r>
          </a:p>
          <a:p>
            <a:pPr algn="l">
              <a:defRPr sz="1300" b="0">
                <a:solidFill>
                  <a:srgbClr val="66CCFF"/>
                </a:solidFill>
                <a:latin typeface="Microsoft YaHei"/>
              </a:defRPr>
            </a:pPr>
            <a:r>
              <a:t>量子赋能 · QUBO / QAOA · 量电混合 ｜ FinQuanta 仿真与工程链路</a:t>
            </a:r>
          </a:p>
          <a:p>
            <a:pPr algn="l">
              <a:defRPr sz="1100" b="0">
                <a:solidFill>
                  <a:srgbClr val="8896A8"/>
                </a:solidFill>
                <a:latin typeface="Microsoft YaHei"/>
              </a:defRPr>
            </a:pPr>
            <a:r>
              <a:t>PART 3 应用价值 · 产业场景补充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562356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1E6"/>
                </a:solidFill>
                <a:latin typeface="Microsoft YaHei"/>
              </a:defRPr>
            </a:pPr>
            <a:r>
              <a:t>【场景】多标的离散选股与持仓数约束下，需在收益—风险—合规间同步求解；候选池扩大时组合空间指数膨胀。</a:t>
            </a:r>
          </a:p>
          <a:p>
            <a:pPr algn="l">
              <a:defRPr sz="1200" b="1">
                <a:solidFill>
                  <a:srgbClr val="DCE1E6"/>
                </a:solidFill>
                <a:latin typeface="Microsoft YaHei"/>
              </a:defRPr>
            </a:pPr>
            <a:r>
              <a:t>【痛点】</a:t>
            </a:r>
          </a:p>
          <a:p>
            <a:pPr algn="l">
              <a:defRPr sz="1100" b="0">
                <a:solidFill>
                  <a:srgbClr val="DCE1E6"/>
                </a:solidFill>
                <a:latin typeface="Microsoft YaHei"/>
              </a:defRPr>
            </a:pPr>
            <a:r>
              <a:t>· 组合空间：50 选 10 ≈ 103 亿；100 选 15 ≈ 10^17；500 选 30 ≈ 10^48，穷举不可行。</a:t>
            </a:r>
          </a:p>
          <a:p>
            <a:pPr algn="l">
              <a:defRPr sz="1100" b="0">
                <a:solidFill>
                  <a:srgbClr val="DCE1E6"/>
                </a:solidFill>
                <a:latin typeface="Microsoft YaHei"/>
              </a:defRPr>
            </a:pPr>
            <a:r>
              <a:t>· 解质量：高维协方差与多约束耦合时，纯启发式易局部最优。</a:t>
            </a:r>
          </a:p>
          <a:p>
            <a:pPr algn="l">
              <a:defRPr sz="1100" b="0">
                <a:solidFill>
                  <a:srgbClr val="DCE1E6"/>
                </a:solidFill>
                <a:latin typeface="Microsoft YaHei"/>
              </a:defRPr>
            </a:pPr>
            <a:r>
              <a:t>· 闭环效率：数据—因子—组合求解需可编排、多方法同口径评估。</a:t>
            </a:r>
          </a:p>
          <a:p>
            <a:pPr algn="l">
              <a:defRPr sz="1100" b="1">
                <a:solidFill>
                  <a:srgbClr val="DCE1E6"/>
                </a:solidFill>
                <a:latin typeface="Microsoft YaHei"/>
              </a:defRPr>
            </a:pPr>
            <a:r>
              <a:t>【范式】量子赋能 + QUBO + 量电混合：经典侧数据/回测，量子侧离散组合优化。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44768" y="1234440"/>
          <a:ext cx="562356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60"/>
                <a:gridCol w="937260"/>
                <a:gridCol w="937260"/>
                <a:gridCol w="937260"/>
                <a:gridCol w="937260"/>
                <a:gridCol w="937260"/>
              </a:tblGrid>
              <a:tr h="45066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0D42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年化收益</a:t>
                      </a:r>
                    </a:p>
                  </a:txBody>
                  <a:tcPr>
                    <a:solidFill>
                      <a:srgbClr val="0D42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年化波动</a:t>
                      </a:r>
                    </a:p>
                  </a:txBody>
                  <a:tcPr>
                    <a:solidFill>
                      <a:srgbClr val="0D42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夏普</a:t>
                      </a:r>
                    </a:p>
                  </a:txBody>
                  <a:tcPr>
                    <a:solidFill>
                      <a:srgbClr val="0D42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耗时</a:t>
                      </a:r>
                    </a:p>
                  </a:txBody>
                  <a:tcPr>
                    <a:solidFill>
                      <a:srgbClr val="0D42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约束</a:t>
                      </a:r>
                    </a:p>
                  </a:txBody>
                  <a:tcPr>
                    <a:solidFill>
                      <a:srgbClr val="0D42AF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QAOA (p=2)</a:t>
                      </a:r>
                    </a:p>
                  </a:txBody>
                  <a:tcPr>
                    <a:solidFill>
                      <a:srgbClr val="0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28.74%</a:t>
                      </a:r>
                    </a:p>
                  </a:txBody>
                  <a:tcPr>
                    <a:solidFill>
                      <a:srgbClr val="0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21.38%</a:t>
                      </a:r>
                    </a:p>
                  </a:txBody>
                  <a:tcPr>
                    <a:solidFill>
                      <a:srgbClr val="0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CA0"/>
                          </a:solidFill>
                          <a:latin typeface="Microsoft YaHei"/>
                        </a:defRPr>
                      </a:pPr>
                      <a:r>
                        <a:t>1.20</a:t>
                      </a:r>
                    </a:p>
                  </a:txBody>
                  <a:tcPr>
                    <a:solidFill>
                      <a:srgbClr val="0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63.6 ms</a:t>
                      </a:r>
                    </a:p>
                  </a:txBody>
                  <a:tcPr>
                    <a:solidFill>
                      <a:srgbClr val="0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K=3</a:t>
                      </a:r>
                    </a:p>
                  </a:txBody>
                  <a:tcPr>
                    <a:solidFill>
                      <a:srgbClr val="0A1A32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模拟退火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34.74%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27.15%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1.17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14.6 ms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K=3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Tabu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34.74%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27.15%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1.17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4.3 ms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K=3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贪心 Top-K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34.74%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27.15%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1.17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2.0 ms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K=3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随机 1 万次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34.74%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27.15%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1.17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111.5 ms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K=3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</a:tr>
              <a:tr h="45067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暴力枚举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34.74%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27.15%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1.17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&lt;0.1 ms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6EBF0"/>
                          </a:solidFill>
                          <a:latin typeface="Microsoft YaHei"/>
                        </a:defRPr>
                      </a:pPr>
                      <a:r>
                        <a:t>K=3</a:t>
                      </a:r>
                    </a:p>
                  </a:txBody>
                  <a:tcPr>
                    <a:solidFill>
                      <a:srgbClr val="05081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44768" y="4462272"/>
            <a:ext cx="5623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99AABB"/>
                </a:solidFill>
                <a:latin typeface="Microsoft YaHei"/>
              </a:defRPr>
            </a:pPr>
            <a:r>
              <a:t>表：FinQuanta 内置仿真（6 标的、K=3、120 日合成收益、seed=42）· 夏普最优为 QAOA，较贪心 +2.6%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590288"/>
            <a:ext cx="1135684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EECC"/>
                </a:solidFill>
                <a:latin typeface="Microsoft YaHei"/>
              </a:defRPr>
            </a:pPr>
            <a:r>
              <a:t>价值摘要 ｜ 相对贪心基线夏普提升约 2.6%（+0.03） ｜ 单次求解毫秒～百毫秒量级 ｜ 7 类方法统一评估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2362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67788"/>
                </a:solidFill>
                <a:latin typeface="Microsoft YaHei"/>
              </a:defRPr>
            </a:pPr>
            <a:r>
              <a:t>免责声明：表中为固定随机种子的统计仿真示例，用于展示算法与工程链路，不构成投资收益承诺。｜ 中国 · 苏州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