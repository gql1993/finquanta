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65100"/>
                </a:solidFill>
              </a:defRPr>
            </a:pPr>
            <a:r>
              <a:t>AetherQuant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AI 智能量化交易平台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</a:defRPr>
            </a:pPr>
            <a:r>
              <a:t>量子计算 × AI大模型 × 多策略选股 × 全自动运营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5100"/>
                </a:solidFill>
              </a:defRPr>
            </a:pPr>
            <a:r>
              <a:t>我们做了什么？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</a:defRPr>
            </a:pPr>
            <a:r>
              <a:t>📡 智能选股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8种投资大师策略，从5000+只A股中自动筛选候选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474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</a:defRPr>
            </a:pPr>
            <a:r>
              <a:t>⚛️ 量子优化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QAOA/量子退火算法，计算数学最优投资组合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474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</a:defRPr>
            </a:pPr>
            <a:r>
              <a:t>🤖 AI决策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94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DeepSeek大模型+多智能体协同，自动买卖决策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3474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</a:defRPr>
            </a:pPr>
            <a:r>
              <a:t>🔄 全自动运营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7×24定时调度，选股→决策→执行→推送→复盘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657600"/>
            <a:ext cx="3474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840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</a:defRPr>
            </a:pPr>
            <a:r>
              <a:t>📱 即时推送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80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企业微信/Server酱，预警和日报推送到手机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657600"/>
            <a:ext cx="3474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840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</a:defRPr>
            </a:pPr>
            <a:r>
              <a:t>🎯 自主进化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4805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学习历史表现，自动调整策略权重，持续优化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5100"/>
                </a:solidFill>
              </a:defRPr>
            </a:pPr>
            <a:r>
              <a:t>解决什么问题？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029200" cy="640080"/>
          </a:xfrm>
          <a:prstGeom prst="round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5350"/>
                </a:solidFill>
              </a:defRPr>
            </a:pPr>
            <a:r>
              <a:t>❌ 人工盯盘耗时耗力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325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740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029200" cy="640080"/>
          </a:xfrm>
          <a:prstGeom prst="round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BB6A"/>
                </a:solidFill>
              </a:defRPr>
            </a:pPr>
            <a:r>
              <a:t>✅ 系统7×24自动运行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03120"/>
            <a:ext cx="5029200" cy="640080"/>
          </a:xfrm>
          <a:prstGeom prst="round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5350"/>
                </a:solidFill>
              </a:defRPr>
            </a:pPr>
            <a:r>
              <a:t>❌ 凭感觉买卖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1488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740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5029200" cy="640080"/>
          </a:xfrm>
          <a:prstGeom prst="round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BB6A"/>
                </a:solidFill>
              </a:defRPr>
            </a:pPr>
            <a:r>
              <a:t>✅ AI+量化模型双重决策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5029200" cy="640080"/>
          </a:xfrm>
          <a:prstGeom prst="round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5350"/>
                </a:solidFill>
              </a:defRPr>
            </a:pPr>
            <a:r>
              <a:t>❌ 只会一种方法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740"/>
                </a:solidFill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26080"/>
            <a:ext cx="5029200" cy="640080"/>
          </a:xfrm>
          <a:prstGeom prst="round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BB6A"/>
                </a:solidFill>
              </a:defRPr>
            </a:pPr>
            <a:r>
              <a:t>✅ 8大策略+量子优化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39"/>
            <a:ext cx="5029200" cy="640080"/>
          </a:xfrm>
          <a:prstGeom prst="round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404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5350"/>
                </a:solidFill>
              </a:defRPr>
            </a:pPr>
            <a:r>
              <a:t>❌ 看不清风险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7947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740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49039"/>
            <a:ext cx="5029200" cy="640080"/>
          </a:xfrm>
          <a:prstGeom prst="round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8404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BB6A"/>
                </a:solidFill>
              </a:defRPr>
            </a:pPr>
            <a:r>
              <a:t>✅ 实时VaR/回撤/集中度监控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72000"/>
            <a:ext cx="5029200" cy="640080"/>
          </a:xfrm>
          <a:prstGeom prst="round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5350"/>
                </a:solidFill>
              </a:defRPr>
            </a:pPr>
            <a:r>
              <a:t>❌ 错过最佳时机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740"/>
                </a:solidFill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572000"/>
            <a:ext cx="5029200" cy="640080"/>
          </a:xfrm>
          <a:prstGeom prst="round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BB6A"/>
                </a:solidFill>
              </a:defRPr>
            </a:pPr>
            <a:r>
              <a:t>✅ 分钟级监控，即时推送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94960"/>
            <a:ext cx="5029200" cy="640080"/>
          </a:xfrm>
          <a:prstGeom prst="round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5350"/>
                </a:solidFill>
              </a:defRPr>
            </a:pPr>
            <a:r>
              <a:t>❌ 无法验证效果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440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D740"/>
                </a:solidFill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5394960"/>
            <a:ext cx="5029200" cy="640080"/>
          </a:xfrm>
          <a:prstGeom prst="roundRect">
            <a:avLst/>
          </a:prstGeom>
          <a:solidFill>
            <a:srgbClr val="0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BB6A"/>
                </a:solidFill>
              </a:defRPr>
            </a:pPr>
            <a:r>
              <a:t>✅ 走势验证自动跟踪准确率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5100"/>
                </a:solidFill>
              </a:defRPr>
            </a:pPr>
            <a:r>
              <a:t>系统全貌 — 8大功能模块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FC3F7"/>
                </a:solidFill>
              </a:defRPr>
            </a:pPr>
            <a:r>
              <a:t>📈 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6仓对比+风险速览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6BB6A"/>
                </a:solidFill>
              </a:defRPr>
            </a:pPr>
            <a:r>
              <a:t>📡 选股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8策略+量子优化+回测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E93D8"/>
                </a:solidFill>
              </a:defRPr>
            </a:pPr>
            <a:r>
              <a:t>⚡ 短期选股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事件驱动+基金持仓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40"/>
                </a:solidFill>
              </a:defRPr>
            </a:pPr>
            <a:r>
              <a:t>💼 手动仓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3774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手动买卖+交易记录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06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5350"/>
                </a:solidFill>
              </a:defRPr>
            </a:pPr>
            <a:r>
              <a:t>🤖 AI仓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5仓并行自动交易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93192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4206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5100"/>
                </a:solidFill>
              </a:defRPr>
            </a:pPr>
            <a:r>
              <a:t>🦀 OpenClaw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智能中枢+AI助手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93192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4206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FC3F7"/>
                </a:solidFill>
              </a:defRPr>
            </a:pPr>
            <a:r>
              <a:t>📉 个股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K线图+多策略预测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93192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4206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B949E"/>
                </a:solidFill>
              </a:defRPr>
            </a:pPr>
            <a:r>
              <a:t>⚙️ 设置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4937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调度+推送+AI配置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5100"/>
                </a:solidFill>
              </a:defRPr>
            </a:pPr>
            <a:r>
              <a:t>8大选股策略 — 覆盖趋势/价值/动量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7432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C3F7"/>
                </a:solidFill>
              </a:defRPr>
            </a:pPr>
            <a:r>
              <a:t>股票魔法师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趋势+VCP+突破+紧密收盘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40"/>
                </a:solidFill>
              </a:defRPr>
            </a:pPr>
            <a:r>
              <a:t>偏好: 爆发点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7432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C3F7"/>
                </a:solidFill>
              </a:defRPr>
            </a:pPr>
            <a:r>
              <a:t>CANSLIM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RS强+放量新高+杯柄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40"/>
                </a:solidFill>
              </a:defRPr>
            </a:pPr>
            <a:r>
              <a:t>偏好: 龙头股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7432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C3F7"/>
                </a:solidFill>
              </a:defRPr>
            </a:pPr>
            <a:r>
              <a:t>海龟交易法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通道突破+ATR仓位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40"/>
                </a:solidFill>
              </a:defRPr>
            </a:pPr>
            <a:r>
              <a:t>偏好: 大波段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371600"/>
            <a:ext cx="27432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C3F7"/>
                </a:solidFill>
              </a:defRPr>
            </a:pPr>
            <a:r>
              <a:t>格雷厄姆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1945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距高跌30%+低于MA200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40"/>
                </a:solidFill>
              </a:defRPr>
            </a:pPr>
            <a:r>
              <a:t>偏好: 深度低估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931920"/>
            <a:ext cx="27432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C3F7"/>
                </a:solidFill>
              </a:defRPr>
            </a:pPr>
            <a:r>
              <a:t>巴菲特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稳健增长+低波动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40"/>
                </a:solidFill>
              </a:defRPr>
            </a:pPr>
            <a:r>
              <a:t>偏好: 优质长线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3931920"/>
            <a:ext cx="27432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C3F7"/>
                </a:solidFill>
              </a:defRPr>
            </a:pPr>
            <a:r>
              <a:t>彼得林奇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月涨10%+季涨30%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40"/>
                </a:solidFill>
              </a:defRPr>
            </a:pPr>
            <a:r>
              <a:t>偏好: 高动量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931920"/>
            <a:ext cx="27432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C3F7"/>
                </a:solidFill>
              </a:defRPr>
            </a:pPr>
            <a:r>
              <a:t>国内趋势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放量突破+连阳+金叉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40"/>
                </a:solidFill>
              </a:defRPr>
            </a:pPr>
            <a:r>
              <a:t>偏好: A股趋势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60" y="3931920"/>
            <a:ext cx="27432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C3F7"/>
                </a:solidFill>
              </a:defRPr>
            </a:pPr>
            <a:r>
              <a:t>国内价值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47548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破年线+缩量+底背离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D740"/>
                </a:solidFill>
              </a:defRPr>
            </a:pPr>
            <a:r>
              <a:t>偏好: A股抄底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5100"/>
                </a:solidFill>
              </a:defRPr>
            </a:pPr>
            <a:r>
              <a:t>量子组合优化 — 数学最优投资组合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</a:defRPr>
            </a:pPr>
            <a:r>
              <a:t>传统选股告诉你「买什么」，量子优化告诉你「怎么搭配风险最小、收益最高」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</a:defRPr>
            </a:pPr>
            <a:r>
              <a:t>三大量子求解算法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51760"/>
            <a:ext cx="54864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97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E93D8"/>
                </a:solidFill>
              </a:defRPr>
            </a:pPr>
            <a:r>
              <a:t>QAOA 量子近似优化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模拟量子计算机，同时探索所有组合，找到全局最优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E93D8"/>
                </a:solidFill>
              </a:defRPr>
            </a:pPr>
            <a:r>
              <a:t>量子退火（含隧穿）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模拟金属冷却退火，加入量子隧穿效应跳出局部最优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029200"/>
            <a:ext cx="54864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E93D8"/>
                </a:solidFill>
              </a:defRPr>
            </a:pPr>
            <a:r>
              <a:t>Tabu 禁忌搜索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记录已走过的路，强制向新方向探索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</a:defRPr>
            </a:pPr>
            <a:r>
              <a:t>8种量子优化策略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651760"/>
            <a:ext cx="256032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Markowitz + QAOA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651760"/>
            <a:ext cx="256032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Markowitz + 量子退火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566160"/>
            <a:ext cx="256032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最小方差组合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3566160"/>
            <a:ext cx="256032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风险平价 + 量子优化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80560"/>
            <a:ext cx="256032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最大分散化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480560"/>
            <a:ext cx="256032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CVaR条件风险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394960"/>
            <a:ext cx="256032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486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动量因子 + 量子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5394960"/>
            <a:ext cx="2560320" cy="6400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5486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</a:defRPr>
            </a:pPr>
            <a:r>
              <a:t>策略融合 + 量子优化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5100"/>
                </a:solidFill>
              </a:defRPr>
            </a:pPr>
            <a:r>
              <a:t>AI 5仓并行体系 — 多维度验证策略效果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21031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CE93D8"/>
                </a:solidFill>
              </a:defRPr>
            </a:pPr>
            <a:r>
              <a:t>🟣 完全自主仓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AI全权决策</a:t>
            </a:r>
            <a:br/>
            <a:r>
              <a:t>自动执行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测试纯AI能力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39" y="1371600"/>
            <a:ext cx="21031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79" y="1554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EF5350"/>
                </a:solidFill>
              </a:defRPr>
            </a:pPr>
            <a:r>
              <a:t>🔴 半自主仓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AI决策</a:t>
            </a:r>
            <a:br/>
            <a:r>
              <a:t>人工触发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3657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AI建议+人工择时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59" y="1371600"/>
            <a:ext cx="21031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199" y="1554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66BB6A"/>
                </a:solidFill>
              </a:defRPr>
            </a:pPr>
            <a:r>
              <a:t>🟢 推荐仓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AI推荐</a:t>
            </a:r>
            <a:br/>
            <a:r>
              <a:t>人工确认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99" y="3657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最安全，AI做顾问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79" y="1371600"/>
            <a:ext cx="21031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19" y="1554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D740"/>
                </a:solidFill>
              </a:defRPr>
            </a:pPr>
            <a:r>
              <a:t>📌 自定义仓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扫描Top3</a:t>
            </a:r>
            <a:br/>
            <a:r>
              <a:t>自动跟踪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3657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测试选股雷达效果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371600"/>
            <a:ext cx="2103120" cy="4114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554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FC3F7"/>
                </a:solidFill>
              </a:defRPr>
            </a:pPr>
            <a:r>
              <a:t>⚛️ 量子仓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37744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QAOA/退火</a:t>
            </a:r>
            <a:br/>
            <a:r>
              <a:t>量子最优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65760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数学模型驱动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5仓各100万初始资金，长期跟踪收益率，用数据验证哪种方式最有效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5100"/>
                </a:solidFill>
              </a:defRPr>
            </a:pPr>
            <a:r>
              <a:t>OpenClaw 智能中枢 — 9步全流程管线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645920"/>
            <a:ext cx="1188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737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94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感知采集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6517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行情+新闻</a:t>
            </a:r>
            <a:br/>
            <a:r>
              <a:t>NLP情绪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40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72768" y="1645920"/>
            <a:ext cx="1188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72768" y="1737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194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因子研究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6517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多因子计算</a:t>
            </a:r>
            <a:br/>
            <a:r>
              <a:t>学习权重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40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71215" y="1645920"/>
            <a:ext cx="1188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71215" y="1737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5" y="2194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多智能体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5" y="26517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情报→分析</a:t>
            </a:r>
            <a:br/>
            <a:r>
              <a:t>→决策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8496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40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9663" y="1645920"/>
            <a:ext cx="1188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9663" y="1737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⚖️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9663" y="2194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仓位优化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9663" y="26517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组合优化器</a:t>
            </a:r>
            <a:br/>
            <a:r>
              <a:t>权重分配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40"/>
                </a:solidFill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68112" y="1645920"/>
            <a:ext cx="1188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68112" y="1737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8112" y="2194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全面风控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8112" y="26517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VaR+回撤</a:t>
            </a:r>
            <a:br/>
            <a:r>
              <a:t>舆情检查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40"/>
                </a:solidFill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59" y="1645920"/>
            <a:ext cx="1188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59" y="1737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2194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执行交易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26517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真实价格</a:t>
            </a:r>
            <a:br/>
            <a:r>
              <a:t>自动下单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40"/>
                </a:solidFill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1645920"/>
            <a:ext cx="1188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8" y="1737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65008" y="2194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智能推送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26517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微信/企微</a:t>
            </a:r>
            <a:br/>
            <a:r>
              <a:t>日报预警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40"/>
                </a:solidFill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63456" y="1645920"/>
            <a:ext cx="1188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6" y="1737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6" y="2194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归因记录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456" y="26517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走势验证</a:t>
            </a:r>
            <a:br/>
            <a:r>
              <a:t>校准准确率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60736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40"/>
                </a:solidFill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61904" y="1645920"/>
            <a:ext cx="11887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61904" y="1737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61904" y="2194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5100"/>
                </a:solidFill>
              </a:defRPr>
            </a:pPr>
            <a:r>
              <a:t>自主进化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61904" y="26517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学习规律</a:t>
            </a:r>
            <a:br/>
            <a:r>
              <a:t>优化权重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FC3F7"/>
                </a:solidFill>
              </a:defRPr>
            </a:pPr>
            <a:r>
              <a:t>形成完整闭环：数据 → 决策 → 执行 → 校准 → 学习 → 优化 → 更好的决策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C3F7"/>
                </a:solidFill>
              </a:defRPr>
            </a:pPr>
            <a:r>
              <a:t>四层架构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303520"/>
            <a:ext cx="2651760" cy="91440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📡 感知层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760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多源数据采集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91840" y="5303520"/>
            <a:ext cx="2651760" cy="914400"/>
          </a:xfrm>
          <a:prstGeom prst="round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83280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🧠 决策层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83280" y="5760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自然语言策略+AI研判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126480" y="5303520"/>
            <a:ext cx="2651760" cy="914400"/>
          </a:xfrm>
          <a:prstGeom prst="round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⚡ 执行层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5760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风控+交易+紧急停止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61120" y="5303520"/>
            <a:ext cx="2651760" cy="914400"/>
          </a:xfrm>
          <a:prstGeom prst="round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52560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📊 反馈层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5760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绩效复盘+AI调优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5100"/>
                </a:solidFill>
              </a:defRPr>
            </a:pPr>
            <a:r>
              <a:t>全自动运营 — 7×24无人值守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36576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09:50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拉取实时行情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开盘前准备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6576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79" y="1280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10:00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刷新K线数据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8线程并发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6576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80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10:05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选股雷达扫描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8大策略评分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377440"/>
            <a:ext cx="36576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10:10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短期选股+NLP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新闻情绪分析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377440"/>
            <a:ext cx="36576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10:15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AI三仓决策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多智能体协同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377440"/>
            <a:ext cx="36576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13:30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468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刷新K线(午)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834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下午场准备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566160"/>
            <a:ext cx="36576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14:00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AI决策(下午)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第二轮调整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0" y="3566160"/>
            <a:ext cx="36576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97679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15:30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走势验证+日报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校准+推送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566160"/>
            <a:ext cx="36576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15:35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自主学习进化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策略权重更新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4754880"/>
            <a:ext cx="36576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46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16:00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4846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周期性回测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验证策略效果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0" y="4754880"/>
            <a:ext cx="3657600" cy="914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79" y="4846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5100"/>
                </a:solidFill>
              </a:defRPr>
            </a:pPr>
            <a:r>
              <a:t>全天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4846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止损止盈预警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5分钟监控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5100"/>
                </a:solidFill>
              </a:defRPr>
            </a:pPr>
            <a:r>
              <a:t>技术创新亮点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371600"/>
            <a:ext cx="36576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40"/>
                </a:solidFill>
              </a:defRPr>
            </a:pPr>
            <a:r>
              <a:t>量子×金融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QAOA/量子退火应用于股票组合优化</a:t>
            </a:r>
            <a:br/>
            <a:r>
              <a:t>纯NumPy实现，无需量子硬件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371600"/>
            <a:ext cx="36576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40"/>
                </a:solidFill>
              </a:defRPr>
            </a:pPr>
            <a:r>
              <a:t>AI大模型×量化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DeepSeek等LLM做交易决策</a:t>
            </a:r>
            <a:br/>
            <a:r>
              <a:t>多智能体：情报→分析→决策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36576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40"/>
                </a:solidFill>
              </a:defRPr>
            </a:pPr>
            <a:r>
              <a:t>防AI幻觉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2860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买卖强制使用真实市场价</a:t>
            </a:r>
            <a:br/>
            <a:r>
              <a:t>自动检测并纠正价格偏差&gt;15%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931920"/>
            <a:ext cx="36576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40"/>
                </a:solidFill>
              </a:defRPr>
            </a:pPr>
            <a:r>
              <a:t>自主进化闭环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采集结果→评估→学习→优化</a:t>
            </a:r>
            <a:br/>
            <a:r>
              <a:t>LLM从历史决策中学习改进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931920"/>
            <a:ext cx="36576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40"/>
                </a:solidFill>
              </a:defRPr>
            </a:pPr>
            <a:r>
              <a:t>5仓并行验证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846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多维度对比不同策略效果</a:t>
            </a:r>
            <a:br/>
            <a:r>
              <a:t>用真实收益数据说话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931920"/>
            <a:ext cx="365760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206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40"/>
                </a:solidFill>
              </a:defRPr>
            </a:pPr>
            <a:r>
              <a:t>全模块接入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8463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6个闲置模块全部激活</a:t>
            </a:r>
            <a:br/>
            <a:r>
              <a:t>factor/NLP/optimizer/backtest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5100"/>
                </a:solidFill>
              </a:defRPr>
            </a:pPr>
            <a:r>
              <a:t>核心数据一览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FC3F7"/>
                </a:solidFill>
              </a:defRPr>
            </a:pPr>
            <a:r>
              <a:t>16,700+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行 Python 代码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BB6A"/>
                </a:solidFill>
              </a:defRPr>
            </a:pPr>
            <a: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个功能模块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CE93D8"/>
                </a:solidFill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大选股策略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37160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65100"/>
                </a:solidFill>
              </a:defRPr>
            </a:pPr>
            <a: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步智能管线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F5350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种AI仓位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393192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D740"/>
                </a:solidFill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种量子策略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93192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FC3F7"/>
                </a:solidFill>
              </a:defRPr>
            </a:pPr>
            <a:r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张数据表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931920"/>
            <a:ext cx="2560320" cy="210312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420624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6BB6A"/>
                </a:solidFill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项定时任务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E65100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AetherQuant — AI 智能量化交易平台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量子计算 × AI大模型 × 多策略选股 × 全自动运营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